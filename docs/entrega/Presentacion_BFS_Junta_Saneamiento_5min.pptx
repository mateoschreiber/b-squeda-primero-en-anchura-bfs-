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fcf92c83fd4bce" /><Relationship Type="http://schemas.openxmlformats.org/officeDocument/2006/relationships/extended-properties" Target="/docProps/app.xml" Id="Ra157c742b51e4bc6" /><Relationship Type="http://schemas.openxmlformats.org/officeDocument/2006/relationships/officeDocument" Target="/ppt/presentation.xml" Id="Rf4f6fe4a13f64d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a22d323134420e"/>
  </p:sldMasterIdLst>
  <p:notesMasterIdLst>
    <p:notesMasterId xmlns:r="http://schemas.openxmlformats.org/officeDocument/2006/relationships" r:id="R5e2b8b7cdadc4ae0"/>
  </p:notesMasterIdLst>
  <p:sldIdLst>
    <p:sldId xmlns:r="http://schemas.openxmlformats.org/officeDocument/2006/relationships" id="256" r:id="R83a29d113204403e"/>
    <p:sldId xmlns:r="http://schemas.openxmlformats.org/officeDocument/2006/relationships" id="257" r:id="R90a3c5c00eef455d"/>
    <p:sldId xmlns:r="http://schemas.openxmlformats.org/officeDocument/2006/relationships" id="258" r:id="R4e99f23a07844d1a"/>
    <p:sldId xmlns:r="http://schemas.openxmlformats.org/officeDocument/2006/relationships" id="259" r:id="R9a91022904144c19"/>
    <p:sldId xmlns:r="http://schemas.openxmlformats.org/officeDocument/2006/relationships" id="260" r:id="Rd2d38acdd4014f6d"/>
    <p:sldId xmlns:r="http://schemas.openxmlformats.org/officeDocument/2006/relationships" id="261" r:id="Rc69530cf6fd440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5fae4394a444ee" /><Relationship Type="http://schemas.openxmlformats.org/officeDocument/2006/relationships/slideMaster" Target="/ppt/slideMasters/slideMaster1.xml" Id="R7da22d323134420e" /><Relationship Type="http://schemas.openxmlformats.org/officeDocument/2006/relationships/notesMaster" Target="/ppt/notesMasters/notesMaster1.xml" Id="R5e2b8b7cdadc4ae0" /><Relationship Type="http://schemas.openxmlformats.org/officeDocument/2006/relationships/presProps" Target="/ppt/presProps.xml" Id="R41db23718e304e61" /><Relationship Type="http://schemas.openxmlformats.org/officeDocument/2006/relationships/tableStyles" Target="/ppt/tableStyles.xml" Id="R7c8ef6bf068746a5" /><Relationship Type="http://schemas.openxmlformats.org/officeDocument/2006/relationships/slide" Target="/ppt/slides/slide1.xml" Id="R83a29d113204403e" /><Relationship Type="http://schemas.openxmlformats.org/officeDocument/2006/relationships/slide" Target="/ppt/slides/slide2.xml" Id="R90a3c5c00eef455d" /><Relationship Type="http://schemas.openxmlformats.org/officeDocument/2006/relationships/slide" Target="/ppt/slides/slide3.xml" Id="R4e99f23a07844d1a" /><Relationship Type="http://schemas.openxmlformats.org/officeDocument/2006/relationships/slide" Target="/ppt/slides/slide4.xml" Id="R9a91022904144c19" /><Relationship Type="http://schemas.openxmlformats.org/officeDocument/2006/relationships/slide" Target="/ppt/slides/slide5.xml" Id="Rd2d38acdd4014f6d" /><Relationship Type="http://schemas.openxmlformats.org/officeDocument/2006/relationships/slide" Target="/ppt/slides/slide6.xml" Id="Rc69530cf6fd440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c0d1b9539242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5fed993f3e4042" /><Relationship Type="http://schemas.openxmlformats.org/officeDocument/2006/relationships/notesMaster" Target="/ppt/notesMasters/notesMaster1.xml" Id="R8f31075313174d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074b91adc74293" /><Relationship Type="http://schemas.openxmlformats.org/officeDocument/2006/relationships/notesMaster" Target="/ppt/notesMasters/notesMaster1.xml" Id="Rbb4038fc6f244d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d37779969c4651" /><Relationship Type="http://schemas.openxmlformats.org/officeDocument/2006/relationships/notesMaster" Target="/ppt/notesMasters/notesMaster1.xml" Id="Rf15511e9f28b42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d2772a50994b91" /><Relationship Type="http://schemas.openxmlformats.org/officeDocument/2006/relationships/notesMaster" Target="/ppt/notesMasters/notesMaster1.xml" Id="R6abce4ca622940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5df11ecc5b4f06" /><Relationship Type="http://schemas.openxmlformats.org/officeDocument/2006/relationships/notesMaster" Target="/ppt/notesMasters/notesMaster1.xml" Id="Rab1591658df342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7bbd84c3de40c4" /><Relationship Type="http://schemas.openxmlformats.org/officeDocument/2006/relationships/notesMaster" Target="/ppt/notesMasters/notesMaster1.xml" Id="R366262bde3aa4b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Duración: 00:20 · Expone: Santiago</a:t>
            </a:r>
          </a:p>
          <a:p xmlns:a="http://schemas.openxmlformats.org/drawingml/2006/main">
            <a:r>
              <a:t>Buenos días. Presentaremos cómo una alerta de rotura puede recorrer una red hipotética de sensores usando Búsqueda Primero en Anchura, o BFS. Primero veremos el problema y luego la implementación y sus resultados.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Plan_Ejecucion_BFS_Junta_Saneamiento_Corregido.pdf, páginas 1-3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Duración: 00:50 · Expone: Santiago</a:t>
            </a:r>
          </a:p>
          <a:p xmlns:a="http://schemas.openxmlformats.org/drawingml/2006/main">
            <a:r>
              <a:t>El punto S1, ubicado en el tanque, detecta la anomalía. Cada punto es un nodo y cada enlace es una conexión del grafo. La cercanía es lógica: cantidad de enlaces. Por eso S2 y S3 reciben la alerta antes que S4, S5 y S6; S7 queda en el último nivel. S6 representa la Escuela Rural de esta topología hipotética.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Plan_Ejecucion_BFS_Junta_Saneamiento_Corregido.pdf, páginas 2-3</a:t>
            </a:r>
          </a:p>
          <a:p xmlns:a="http://schemas.openxmlformats.org/drawingml/2006/main">
            <a:r>
              <a:t>data/red_sensores.json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Duración: 00:55 · Expone: Santiago</a:t>
            </a:r>
          </a:p>
          <a:p xmlns:a="http://schemas.openxmlformats.org/drawingml/2006/main">
            <a:r>
              <a:t>BFS usa una cola FIFO: el primero que entra es el primero que sale. Comenzamos con S1, extraemos el primer nodo, agregamos solamente vecinos no visitados y repetimos. Así se completa todo un nivel antes de avanzar. El resultado es el orden de propagación y una ruta mínima por cantidad de enlaces. Ahora Mateo mostrará cómo se implementa.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Plan_Ejecucion_BFS_Junta_Saneamiento_Corregido.pdf, página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Duración: 01:15 · Expone: Mateo</a:t>
            </a:r>
          </a:p>
          <a:p xmlns:a="http://schemas.openxmlformats.org/drawingml/2006/main">
            <a:r>
              <a:t>La implementación real separa la red, BFS y la consola. En bfs.py usamos deque y un set de visitados; network.neighbors aporta el orden validado. La CLI muestra los puntos por nivel, reconstruye la ruta S1-S2-S4-S7 y reporta los no alcanzables.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Plan_Ejecucion_BFS_Junta_Saneamiento_Corregido.pdf, páginas 4-6</a:t>
            </a:r>
          </a:p>
          <a:p xmlns:a="http://schemas.openxmlformats.org/drawingml/2006/main">
            <a:r>
              <a:t>src/junta_saneamiento/bfs.py</a:t>
            </a:r>
          </a:p>
          <a:p xmlns:a="http://schemas.openxmlformats.org/drawingml/2006/main">
            <a:r>
              <a:t>src/junta_saneamiento/cli.py</a:t>
            </a:r>
          </a:p>
          <a:p xmlns:a="http://schemas.openxmlformats.org/drawingml/2006/main">
            <a:r>
              <a:t>https://docs.python.org/3/library/collections.html#collections.deque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Duración: 01:05 · Expone: Mateo</a:t>
            </a:r>
          </a:p>
          <a:p xmlns:a="http://schemas.openxmlformats.org/drawingml/2006/main">
            <a:r>
              <a:t>La suite actual contiene seis métodos unittest. Verifica recorrido y ruta, ciclo y origen alterno, nodo aislado y origen inválido, carga válida, referencias u orden incorrectos y JSON inválido. Las seis pruebas aprueban. BFS conserva complejidad O(V + E).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Plan_Ejecucion_BFS_Junta_Saneamiento_Corregido.pdf, páginas 6 y 8</a:t>
            </a:r>
          </a:p>
          <a:p xmlns:a="http://schemas.openxmlformats.org/drawingml/2006/main">
            <a:r>
              <a:t>tests/test_bfs.py</a:t>
            </a:r>
          </a:p>
          <a:p xmlns:a="http://schemas.openxmlformats.org/drawingml/2006/main">
            <a:r>
              <a:t>tests/test_network.py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Duración: 00:35 · Expone: Mateo</a:t>
            </a:r>
          </a:p>
          <a:p xmlns:a="http://schemas.openxmlformats.org/drawingml/2006/main">
            <a:r>
              <a:t>En conclusión, BFS responde exactamente al sorteo: implementamos una búsqueda no informada en Python, modelamos la conectividad de la Junta de Saneamiento y demostramos la propagación por niveles. La solución entrega un orden claro, rutas mínimas por enlaces y resultados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Plan_Ejecucion_BFS_Junta_Saneamiento_Corregido.pdf, página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699667b0164c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c8907582f94795" /><Relationship Type="http://schemas.openxmlformats.org/officeDocument/2006/relationships/slideLayout" Target="/ppt/slideLayouts/slideLayout1.xml" Id="R25643f2efcec4b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643f2efcec4b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0d64a72ad4ccf" /><Relationship Type="http://schemas.openxmlformats.org/officeDocument/2006/relationships/notesSlide" Target="/ppt/notesSlides/notesSlide1.xml" Id="R4cf3545bcf9d4d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f552135034a03" /><Relationship Type="http://schemas.openxmlformats.org/officeDocument/2006/relationships/notesSlide" Target="/ppt/notesSlides/notesSlide2.xml" Id="Rc5548888483c4d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a3d7d9b5f4e4b" /><Relationship Type="http://schemas.openxmlformats.org/officeDocument/2006/relationships/notesSlide" Target="/ppt/notesSlides/notesSlide3.xml" Id="R0008b053967247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b29b46afc4ffe" /><Relationship Type="http://schemas.openxmlformats.org/officeDocument/2006/relationships/notesSlide" Target="/ppt/notesSlides/notesSlide4.xml" Id="Re0baf54b48ad43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d51884a9746fc" /><Relationship Type="http://schemas.openxmlformats.org/officeDocument/2006/relationships/notesSlide" Target="/ppt/notesSlides/notesSlide5.xml" Id="R697ae0b3b4114c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c68bf014c4983" /><Relationship Type="http://schemas.openxmlformats.org/officeDocument/2006/relationships/notesSlide" Target="/ppt/notesSlides/notesSlide6.xml" Id="R620e294a16e44b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6E1322C0-BDDC-4D06-A7C2-E24550AB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INTELIGENCIA ARTIFICIAL · EXPOSICIÓN DE 5 MINUTOS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720ED95-3553-40B2-B577-E3093704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334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Cómo una alerta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recorre la red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B39C3CF-7CEE-4E54-96E7-72BE6064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630"/>
                </a:solidFill>
                <a:latin typeface="Arial"/>
                <a:ea typeface="Arial"/>
                <a:cs typeface="Arial"/>
              </a:rPr>
              <a:t>Búsqueda Primero en Anchura (BFS) aplicada a una Junta de Saneamiento</a:t>
            </a:r>
          </a:p>
        </p:txBody>
      </p:sp>
      <p:sp>
        <p:nvSpPr>
          <p:cNvPr id="4" name="cover-team">
            <a:extLst xmlns:a="http://schemas.openxmlformats.org/drawingml/2006/main">
              <a:ext uri="{FF2B5EF4-FFF2-40B4-BE49-F238E27FC236}">
                <a16:creationId xmlns:a16="http://schemas.microsoft.com/office/drawing/2014/main" id="{5225DCEC-6AB2-40EF-9B84-9B73BC06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0656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0656F"/>
                </a:solidFill>
                <a:latin typeface="Arial"/>
                <a:ea typeface="Arial"/>
                <a:cs typeface="Arial"/>
              </a:rPr>
              <a:t>Mateo · Santiago</a:t>
            </a:r>
          </a:p>
        </p:txBody>
      </p:sp>
      <p:sp>
        <p:nvSpPr>
          <p:cNvPr id="5" name="cover-speakers">
            <a:extLst xmlns:a="http://schemas.openxmlformats.org/drawingml/2006/main">
              <a:ext uri="{FF2B5EF4-FFF2-40B4-BE49-F238E27FC236}">
                <a16:creationId xmlns:a16="http://schemas.microsoft.com/office/drawing/2014/main" id="{7FB4A215-D241-4A5E-89BA-E730D699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0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56F"/>
                </a:solidFill>
                <a:latin typeface="Arial"/>
                <a:ea typeface="Arial"/>
                <a:cs typeface="Arial"/>
              </a:rPr>
              <a:t>Santiago: problema y BFS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0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56F"/>
                </a:solidFill>
                <a:latin typeface="Arial"/>
                <a:ea typeface="Arial"/>
                <a:cs typeface="Arial"/>
              </a:rPr>
              <a:t>Mateo: implementación y resultados</a:t>
            </a:r>
          </a:p>
        </p:txBody>
      </p:sp>
      <p:sp>
        <p:nvSpPr>
          <p:cNvPr id="6" name="hero-panel">
            <a:extLst xmlns:a="http://schemas.openxmlformats.org/drawingml/2006/main">
              <a:ext uri="{FF2B5EF4-FFF2-40B4-BE49-F238E27FC236}">
                <a16:creationId xmlns:a16="http://schemas.microsoft.com/office/drawing/2014/main" id="{F9CDECFA-4A32-48FE-ABB6-7549AA02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"/>
            <a:ext cx="5143500" cy="58102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B8C8CE"/>
            </a:solidFill>
            <a:prstDash val="solid"/>
          </a:ln>
        </p:spPr>
      </p:sp>
      <p:sp>
        <p:nvSpPr>
          <p:cNvPr id="7" name="cover-s1">
            <a:extLst xmlns:a="http://schemas.openxmlformats.org/drawingml/2006/main">
              <a:ext uri="{FF2B5EF4-FFF2-40B4-BE49-F238E27FC236}">
                <a16:creationId xmlns:a16="http://schemas.microsoft.com/office/drawing/2014/main" id="{4193C643-80F1-4DA9-AEC6-39A0EC5B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57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" name="cover-s1-code">
            <a:extLst xmlns:a="http://schemas.openxmlformats.org/drawingml/2006/main">
              <a:ext uri="{FF2B5EF4-FFF2-40B4-BE49-F238E27FC236}">
                <a16:creationId xmlns:a16="http://schemas.microsoft.com/office/drawing/2014/main" id="{9F6E463E-BBDF-41ED-81C5-DD495CFF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9" name="cover-s2">
            <a:extLst xmlns:a="http://schemas.openxmlformats.org/drawingml/2006/main">
              <a:ext uri="{FF2B5EF4-FFF2-40B4-BE49-F238E27FC236}">
                <a16:creationId xmlns:a16="http://schemas.microsoft.com/office/drawing/2014/main" id="{CAFED8E8-9BD2-4F8A-A180-33AE4DF1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cover-s2-code">
            <a:extLst xmlns:a="http://schemas.openxmlformats.org/drawingml/2006/main">
              <a:ext uri="{FF2B5EF4-FFF2-40B4-BE49-F238E27FC236}">
                <a16:creationId xmlns:a16="http://schemas.microsoft.com/office/drawing/2014/main" id="{EBCC9DF4-2BEE-42B7-BC4F-2F177752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66925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S2</a:t>
            </a:r>
          </a:p>
        </p:txBody>
      </p:sp>
      <p:sp>
        <p:nvSpPr>
          <p:cNvPr id="11" name="cover-s3">
            <a:extLst xmlns:a="http://schemas.openxmlformats.org/drawingml/2006/main">
              <a:ext uri="{FF2B5EF4-FFF2-40B4-BE49-F238E27FC236}">
                <a16:creationId xmlns:a16="http://schemas.microsoft.com/office/drawing/2014/main" id="{0FD299C8-CEFC-4159-B319-F2FDF8FE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14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cover-s3-code">
            <a:extLst xmlns:a="http://schemas.openxmlformats.org/drawingml/2006/main">
              <a:ext uri="{FF2B5EF4-FFF2-40B4-BE49-F238E27FC236}">
                <a16:creationId xmlns:a16="http://schemas.microsoft.com/office/drawing/2014/main" id="{6A15469A-EC25-43E8-9D13-3BAD96BC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33800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S3</a:t>
            </a:r>
          </a:p>
        </p:txBody>
      </p:sp>
      <p:sp>
        <p:nvSpPr>
          <p:cNvPr id="13" name="cover-s4">
            <a:extLst xmlns:a="http://schemas.openxmlformats.org/drawingml/2006/main">
              <a:ext uri="{FF2B5EF4-FFF2-40B4-BE49-F238E27FC236}">
                <a16:creationId xmlns:a16="http://schemas.microsoft.com/office/drawing/2014/main" id="{D6D3B3AD-F359-4379-A721-6B0FB6F2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66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" name="cover-s4-code">
            <a:extLst xmlns:a="http://schemas.openxmlformats.org/drawingml/2006/main">
              <a:ext uri="{FF2B5EF4-FFF2-40B4-BE49-F238E27FC236}">
                <a16:creationId xmlns:a16="http://schemas.microsoft.com/office/drawing/2014/main" id="{7B99E855-637A-4A82-8AC7-81BDC5AC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85925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S4</a:t>
            </a:r>
          </a:p>
        </p:txBody>
      </p:sp>
      <p:sp>
        <p:nvSpPr>
          <p:cNvPr id="15" name="cover-s5">
            <a:extLst xmlns:a="http://schemas.openxmlformats.org/drawingml/2006/main">
              <a:ext uri="{FF2B5EF4-FFF2-40B4-BE49-F238E27FC236}">
                <a16:creationId xmlns:a16="http://schemas.microsoft.com/office/drawing/2014/main" id="{7FC86D79-2171-4858-A75F-5ACFF95C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cover-s5-code">
            <a:extLst xmlns:a="http://schemas.openxmlformats.org/drawingml/2006/main">
              <a:ext uri="{FF2B5EF4-FFF2-40B4-BE49-F238E27FC236}">
                <a16:creationId xmlns:a16="http://schemas.microsoft.com/office/drawing/2014/main" id="{60FE8280-E57C-4F6B-98AB-A5DF834D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76550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S5</a:t>
            </a:r>
          </a:p>
        </p:txBody>
      </p:sp>
      <p:sp>
        <p:nvSpPr>
          <p:cNvPr id="17" name="cover-s6">
            <a:extLst xmlns:a="http://schemas.openxmlformats.org/drawingml/2006/main">
              <a:ext uri="{FF2B5EF4-FFF2-40B4-BE49-F238E27FC236}">
                <a16:creationId xmlns:a16="http://schemas.microsoft.com/office/drawing/2014/main" id="{13E51113-506E-4BCE-BB29-7CE347D5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91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8" name="cover-s6-code">
            <a:extLst xmlns:a="http://schemas.openxmlformats.org/drawingml/2006/main">
              <a:ext uri="{FF2B5EF4-FFF2-40B4-BE49-F238E27FC236}">
                <a16:creationId xmlns:a16="http://schemas.microsoft.com/office/drawing/2014/main" id="{AED1772D-C536-4B8A-A073-2C32F2CA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10050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S6</a:t>
            </a:r>
          </a:p>
        </p:txBody>
      </p:sp>
      <p:sp>
        <p:nvSpPr>
          <p:cNvPr id="19" name="cover-s7">
            <a:extLst xmlns:a="http://schemas.openxmlformats.org/drawingml/2006/main">
              <a:ext uri="{FF2B5EF4-FFF2-40B4-BE49-F238E27FC236}">
                <a16:creationId xmlns:a16="http://schemas.microsoft.com/office/drawing/2014/main" id="{A02BA2B9-0730-4F72-ACB2-E6BD4115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666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" name="cover-s7-code">
            <a:extLst xmlns:a="http://schemas.openxmlformats.org/drawingml/2006/main">
              <a:ext uri="{FF2B5EF4-FFF2-40B4-BE49-F238E27FC236}">
                <a16:creationId xmlns:a16="http://schemas.microsoft.com/office/drawing/2014/main" id="{F49F93EF-35C5-42AF-AA73-03F918E4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685925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S7</a:t>
            </a:r>
          </a:p>
        </p:txBody>
      </p:sp>
      <p:cxnSp>
        <p:nvCxnSpPr>
          <p:cNvPr id="100" name=""/>
          <p:cNvCxnSpPr>
            <a:stCxn xmlns:a="http://schemas.openxmlformats.org/drawingml/2006/main" id="7" idx="7"/>
            <a:endCxn xmlns:a="http://schemas.openxmlformats.org/drawingml/2006/main" id="9" idx="3"/>
          </p:cNvCxnSpPr>
          <p:nvPr/>
        </p:nvCxnSpPr>
        <p:spPr>
          <a:xfrm xmlns:a="http://schemas.openxmlformats.org/drawingml/2006/main" flipV="1">
            <a:off x="7569982" y="2616982"/>
            <a:ext cx="862037" cy="33816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8D99"/>
            </a:solidFill>
            <a:prstDash val="solid"/>
          </a:ln>
        </p:spPr>
      </p:cxnSp>
      <p:cxnSp>
        <p:nvCxnSpPr>
          <p:cNvPr id="101" name=""/>
          <p:cNvCxnSpPr>
            <a:stCxn xmlns:a="http://schemas.openxmlformats.org/drawingml/2006/main" id="7" idx="5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569982" y="3426607"/>
            <a:ext cx="862037" cy="38578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8D99"/>
            </a:solidFill>
            <a:prstDash val="solid"/>
          </a:ln>
        </p:spPr>
      </p:cxnSp>
      <p:cxnSp>
        <p:nvCxnSpPr>
          <p:cNvPr id="102" name=""/>
          <p:cNvCxnSpPr>
            <a:stCxn xmlns:a="http://schemas.openxmlformats.org/drawingml/2006/main" id="9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9001125" y="2000250"/>
            <a:ext cx="809625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8D99"/>
            </a:solidFill>
            <a:prstDash val="solid"/>
          </a:ln>
        </p:spPr>
      </p:cxnSp>
      <p:cxnSp>
        <p:nvCxnSpPr>
          <p:cNvPr id="103" name=""/>
          <p:cNvCxnSpPr>
            <a:stCxn xmlns:a="http://schemas.openxmlformats.org/drawingml/2006/main" id="9" idx="5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903482" y="2616982"/>
            <a:ext cx="1004912" cy="33816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8D99"/>
            </a:solidFill>
            <a:prstDash val="solid"/>
          </a:ln>
        </p:spPr>
      </p:cxnSp>
      <p:cxnSp>
        <p:nvCxnSpPr>
          <p:cNvPr id="104" name=""/>
          <p:cNvCxnSpPr>
            <a:stCxn xmlns:a="http://schemas.openxmlformats.org/drawingml/2006/main" id="11" idx="6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001125" y="4048125"/>
            <a:ext cx="907268" cy="24051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8D99"/>
            </a:solidFill>
            <a:prstDash val="solid"/>
          </a:ln>
        </p:spPr>
      </p:cxnSp>
      <p:cxnSp>
        <p:nvCxnSpPr>
          <p:cNvPr id="105" name=""/>
          <p:cNvCxnSpPr>
            <a:stCxn xmlns:a="http://schemas.openxmlformats.org/drawingml/2006/main" id="13" idx="6"/>
            <a:endCxn xmlns:a="http://schemas.openxmlformats.org/drawingml/2006/main" id="19" idx="2"/>
          </p:cNvCxnSpPr>
          <p:nvPr/>
        </p:nvCxnSpPr>
        <p:spPr>
          <a:xfrm xmlns:a="http://schemas.openxmlformats.org/drawingml/2006/main">
            <a:off x="10477500" y="2000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8D99"/>
            </a:solidFill>
            <a:prstDash val="solid"/>
          </a:ln>
        </p:spPr>
      </p:cxnSp>
      <p:sp>
        <p:nvSpPr>
          <p:cNvPr id="27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B8AE6046-BF23-4C9A-9610-312B9702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3340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Alerta por niveles: origen → vecinos → siguientes conexiones</a:t>
            </a:r>
          </a:p>
        </p:txBody>
      </p:sp>
    </p:spTree>
    <p:extLst>
      <p:ext uri="{BB962C8B-B14F-4D97-AF65-F5344CB8AC3E}">
        <p14:creationId xmlns:p14="http://schemas.microsoft.com/office/powerpoint/2010/main" val="1004562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itle-2">
            <a:extLst xmlns:a="http://schemas.openxmlformats.org/drawingml/2006/main">
              <a:ext uri="{FF2B5EF4-FFF2-40B4-BE49-F238E27FC236}">
                <a16:creationId xmlns:a16="http://schemas.microsoft.com/office/drawing/2014/main" id="{CA11E7DF-ED93-4313-B969-964C15C8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La prioridad es la cercanía lógica</a:t>
            </a:r>
          </a:p>
        </p:txBody>
      </p:sp>
      <p:sp>
        <p:nvSpPr>
          <p:cNvPr id="2" name="accent-2">
            <a:extLst xmlns:a="http://schemas.openxmlformats.org/drawingml/2006/main">
              <a:ext uri="{FF2B5EF4-FFF2-40B4-BE49-F238E27FC236}">
                <a16:creationId xmlns:a16="http://schemas.microsoft.com/office/drawing/2014/main" id="{B875C1DF-70F6-4308-BBFD-89D41D75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peaker-bg-2">
            <a:extLst xmlns:a="http://schemas.openxmlformats.org/drawingml/2006/main">
              <a:ext uri="{FF2B5EF4-FFF2-40B4-BE49-F238E27FC236}">
                <a16:creationId xmlns:a16="http://schemas.microsoft.com/office/drawing/2014/main" id="{A23E3FE8-5791-4FF9-BA47-40AADF0E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"/>
            <a:ext cx="1428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peaker-2">
            <a:extLst xmlns:a="http://schemas.openxmlformats.org/drawingml/2006/main">
              <a:ext uri="{FF2B5EF4-FFF2-40B4-BE49-F238E27FC236}">
                <a16:creationId xmlns:a16="http://schemas.microsoft.com/office/drawing/2014/main" id="{1D1E4200-8186-4AAB-A222-FD645CDB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SANTIAGO</a:t>
            </a:r>
          </a:p>
        </p:txBody>
      </p:sp>
      <p:sp>
        <p:nvSpPr>
          <p:cNvPr id="5" name="number-2">
            <a:extLst xmlns:a="http://schemas.openxmlformats.org/drawingml/2006/main">
              <a:ext uri="{FF2B5EF4-FFF2-40B4-BE49-F238E27FC236}">
                <a16:creationId xmlns:a16="http://schemas.microsoft.com/office/drawing/2014/main" id="{BBFC1378-6712-4C7D-A2E4-3987A7B7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065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065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4BC2AA36-84E3-48B6-A1ED-8C099CC7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619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630"/>
                </a:solidFill>
                <a:latin typeface="Arial"/>
                <a:ea typeface="Arial"/>
                <a:cs typeface="Arial"/>
              </a:rPr>
              <a:t>Una caída brusca de presión en S1 activa la alerta.</a:t>
            </a:r>
          </a:p>
        </p:txBody>
      </p:sp>
      <p:sp>
        <p:nvSpPr>
          <p:cNvPr id="7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FAD96C06-FB73-4B85-9510-CABFC297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476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065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56F"/>
                </a:solidFill>
                <a:latin typeface="Arial"/>
                <a:ea typeface="Arial"/>
                <a:cs typeface="Arial"/>
              </a:rPr>
              <a:t>La pregunta no es cuál sensor está más cerca en kilómetros, sino cuál requiere menos enlaces de comunicación desde el origen.</a:t>
            </a:r>
          </a:p>
        </p:txBody>
      </p:sp>
      <p:sp>
        <p:nvSpPr>
          <p:cNvPr id="8" name="problem-callout">
            <a:extLst xmlns:a="http://schemas.openxmlformats.org/drawingml/2006/main">
              <a:ext uri="{FF2B5EF4-FFF2-40B4-BE49-F238E27FC236}">
                <a16:creationId xmlns:a16="http://schemas.microsoft.com/office/drawing/2014/main" id="{7D588DAD-36F4-44EE-AD67-0AE0BCD0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4476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blem-q">
            <a:extLst xmlns:a="http://schemas.openxmlformats.org/drawingml/2006/main">
              <a:ext uri="{FF2B5EF4-FFF2-40B4-BE49-F238E27FC236}">
                <a16:creationId xmlns:a16="http://schemas.microsoft.com/office/drawing/2014/main" id="{E97674A8-B25A-45E0-9EA7-9A16F5C5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832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¿En qué orden deben recibir la alerta?</a:t>
            </a:r>
          </a:p>
        </p:txBody>
      </p:sp>
      <p:sp>
        <p:nvSpPr>
          <p:cNvPr id="10" name="problem-answer">
            <a:extLst xmlns:a="http://schemas.openxmlformats.org/drawingml/2006/main">
              <a:ext uri="{FF2B5EF4-FFF2-40B4-BE49-F238E27FC236}">
                <a16:creationId xmlns:a16="http://schemas.microsoft.com/office/drawing/2014/main" id="{04D35BB7-D24C-4ACB-80EE-A95F1250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DF3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F3F5"/>
                </a:solidFill>
                <a:latin typeface="Arial"/>
                <a:ea typeface="Arial"/>
                <a:cs typeface="Arial"/>
              </a:rPr>
              <a:t>Primero todo el nivel 1; después el nivel 2; finalmente el nivel 3.</a:t>
            </a:r>
          </a:p>
        </p:txBody>
      </p:sp>
      <p:sp>
        <p:nvSpPr>
          <p:cNvPr id="11" name="network-field">
            <a:extLst xmlns:a="http://schemas.openxmlformats.org/drawingml/2006/main">
              <a:ext uri="{FF2B5EF4-FFF2-40B4-BE49-F238E27FC236}">
                <a16:creationId xmlns:a16="http://schemas.microsoft.com/office/drawing/2014/main" id="{4E91FF45-75B1-4AEA-B22E-8155F6C3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60007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B8C8CE"/>
            </a:solidFill>
            <a:prstDash val="solid"/>
          </a:ln>
        </p:spPr>
      </p:sp>
      <p:sp>
        <p:nvSpPr>
          <p:cNvPr id="12" name="s2-s1">
            <a:extLst xmlns:a="http://schemas.openxmlformats.org/drawingml/2006/main">
              <a:ext uri="{FF2B5EF4-FFF2-40B4-BE49-F238E27FC236}">
                <a16:creationId xmlns:a16="http://schemas.microsoft.com/office/drawing/2014/main" id="{E6496EFB-4569-4D25-86B8-6D6DE1AB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95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s2-s1-code">
            <a:extLst xmlns:a="http://schemas.openxmlformats.org/drawingml/2006/main">
              <a:ext uri="{FF2B5EF4-FFF2-40B4-BE49-F238E27FC236}">
                <a16:creationId xmlns:a16="http://schemas.microsoft.com/office/drawing/2014/main" id="{8415D703-AED5-47C5-9539-4233664C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14" name="s2-s1-label">
            <a:extLst xmlns:a="http://schemas.openxmlformats.org/drawingml/2006/main">
              <a:ext uri="{FF2B5EF4-FFF2-40B4-BE49-F238E27FC236}">
                <a16:creationId xmlns:a16="http://schemas.microsoft.com/office/drawing/2014/main" id="{A35E8C3F-3004-4BDD-856C-7ACF6896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195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630"/>
                </a:solidFill>
                <a:latin typeface="Arial"/>
                <a:ea typeface="Arial"/>
                <a:cs typeface="Arial"/>
              </a:rPr>
              <a:t>Tanque</a:t>
            </a:r>
          </a:p>
        </p:txBody>
      </p:sp>
      <p:sp>
        <p:nvSpPr>
          <p:cNvPr id="15" name="s2-s2">
            <a:extLst xmlns:a="http://schemas.openxmlformats.org/drawingml/2006/main">
              <a:ext uri="{FF2B5EF4-FFF2-40B4-BE49-F238E27FC236}">
                <a16:creationId xmlns:a16="http://schemas.microsoft.com/office/drawing/2014/main" id="{5BF465D6-D38A-4EE4-8535-E11A148C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90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s2-s2-code">
            <a:extLst xmlns:a="http://schemas.openxmlformats.org/drawingml/2006/main">
              <a:ext uri="{FF2B5EF4-FFF2-40B4-BE49-F238E27FC236}">
                <a16:creationId xmlns:a16="http://schemas.microsoft.com/office/drawing/2014/main" id="{76BB5912-4D01-4999-AEFA-6DD0F63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09800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S2</a:t>
            </a:r>
          </a:p>
        </p:txBody>
      </p:sp>
      <p:sp>
        <p:nvSpPr>
          <p:cNvPr id="17" name="s2-s2-label">
            <a:extLst xmlns:a="http://schemas.openxmlformats.org/drawingml/2006/main">
              <a:ext uri="{FF2B5EF4-FFF2-40B4-BE49-F238E27FC236}">
                <a16:creationId xmlns:a16="http://schemas.microsoft.com/office/drawing/2014/main" id="{C9C2DEF9-DD08-4E46-B36C-762F0152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9146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630"/>
                </a:solidFill>
                <a:latin typeface="Arial"/>
                <a:ea typeface="Arial"/>
                <a:cs typeface="Arial"/>
              </a:rPr>
              <a:t>Bomba</a:t>
            </a:r>
          </a:p>
        </p:txBody>
      </p:sp>
      <p:sp>
        <p:nvSpPr>
          <p:cNvPr id="18" name="s2-s3">
            <a:extLst xmlns:a="http://schemas.openxmlformats.org/drawingml/2006/main">
              <a:ext uri="{FF2B5EF4-FFF2-40B4-BE49-F238E27FC236}">
                <a16:creationId xmlns:a16="http://schemas.microsoft.com/office/drawing/2014/main" id="{A8BAD4A6-AFE9-4DE9-A728-7DF5DD99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95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" name="s2-s3-code">
            <a:extLst xmlns:a="http://schemas.openxmlformats.org/drawingml/2006/main">
              <a:ext uri="{FF2B5EF4-FFF2-40B4-BE49-F238E27FC236}">
                <a16:creationId xmlns:a16="http://schemas.microsoft.com/office/drawing/2014/main" id="{F678C9EB-62AA-4816-A70E-85ADAE65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14800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S3</a:t>
            </a:r>
          </a:p>
        </p:txBody>
      </p:sp>
      <p:sp>
        <p:nvSpPr>
          <p:cNvPr id="20" name="s2-s3-label">
            <a:extLst xmlns:a="http://schemas.openxmlformats.org/drawingml/2006/main">
              <a:ext uri="{FF2B5EF4-FFF2-40B4-BE49-F238E27FC236}">
                <a16:creationId xmlns:a16="http://schemas.microsoft.com/office/drawing/2014/main" id="{F7A6DDF8-A16D-492D-9EB5-0BA985A6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8196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630"/>
                </a:solidFill>
                <a:latin typeface="Arial"/>
                <a:ea typeface="Arial"/>
                <a:cs typeface="Arial"/>
              </a:rPr>
              <a:t>Ramal norte</a:t>
            </a:r>
          </a:p>
        </p:txBody>
      </p:sp>
      <p:sp>
        <p:nvSpPr>
          <p:cNvPr id="21" name="s2-s4">
            <a:extLst xmlns:a="http://schemas.openxmlformats.org/drawingml/2006/main">
              <a:ext uri="{FF2B5EF4-FFF2-40B4-BE49-F238E27FC236}">
                <a16:creationId xmlns:a16="http://schemas.microsoft.com/office/drawing/2014/main" id="{0462618C-259A-4F8C-A831-9BA34AFB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2" name="s2-s4-code">
            <a:extLst xmlns:a="http://schemas.openxmlformats.org/drawingml/2006/main">
              <a:ext uri="{FF2B5EF4-FFF2-40B4-BE49-F238E27FC236}">
                <a16:creationId xmlns:a16="http://schemas.microsoft.com/office/drawing/2014/main" id="{FFBE33E2-AAF0-41FD-A02C-533D7D24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28800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S4</a:t>
            </a:r>
          </a:p>
        </p:txBody>
      </p:sp>
      <p:sp>
        <p:nvSpPr>
          <p:cNvPr id="23" name="s2-s4-label">
            <a:extLst xmlns:a="http://schemas.openxmlformats.org/drawingml/2006/main">
              <a:ext uri="{FF2B5EF4-FFF2-40B4-BE49-F238E27FC236}">
                <a16:creationId xmlns:a16="http://schemas.microsoft.com/office/drawing/2014/main" id="{519EFE43-EE5B-4AE6-8F4C-2467B0C4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5336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630"/>
                </a:solidFill>
                <a:latin typeface="Arial"/>
                <a:ea typeface="Arial"/>
                <a:cs typeface="Arial"/>
              </a:rPr>
              <a:t>Válvula</a:t>
            </a:r>
          </a:p>
        </p:txBody>
      </p:sp>
      <p:sp>
        <p:nvSpPr>
          <p:cNvPr id="24" name="s2-s5">
            <a:extLst xmlns:a="http://schemas.openxmlformats.org/drawingml/2006/main">
              <a:ext uri="{FF2B5EF4-FFF2-40B4-BE49-F238E27FC236}">
                <a16:creationId xmlns:a16="http://schemas.microsoft.com/office/drawing/2014/main" id="{419A8CE0-2378-4D21-A330-1E824984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95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5" name="s2-s5-code">
            <a:extLst xmlns:a="http://schemas.openxmlformats.org/drawingml/2006/main">
              <a:ext uri="{FF2B5EF4-FFF2-40B4-BE49-F238E27FC236}">
                <a16:creationId xmlns:a16="http://schemas.microsoft.com/office/drawing/2014/main" id="{9B3F325C-FAA9-4DB0-8B0D-F1E72B84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14675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S5</a:t>
            </a:r>
          </a:p>
        </p:txBody>
      </p:sp>
      <p:sp>
        <p:nvSpPr>
          <p:cNvPr id="26" name="s2-s5-label">
            <a:extLst xmlns:a="http://schemas.openxmlformats.org/drawingml/2006/main">
              <a:ext uri="{FF2B5EF4-FFF2-40B4-BE49-F238E27FC236}">
                <a16:creationId xmlns:a16="http://schemas.microsoft.com/office/drawing/2014/main" id="{4A0E4DF7-4E8A-4452-84F7-1DC883F4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8195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630"/>
                </a:solidFill>
                <a:latin typeface="Arial"/>
                <a:ea typeface="Arial"/>
                <a:cs typeface="Arial"/>
              </a:rPr>
              <a:t>Ramal sur</a:t>
            </a:r>
          </a:p>
        </p:txBody>
      </p:sp>
      <p:sp>
        <p:nvSpPr>
          <p:cNvPr id="27" name="s2-s6">
            <a:extLst xmlns:a="http://schemas.openxmlformats.org/drawingml/2006/main">
              <a:ext uri="{FF2B5EF4-FFF2-40B4-BE49-F238E27FC236}">
                <a16:creationId xmlns:a16="http://schemas.microsoft.com/office/drawing/2014/main" id="{06AEA6E8-0275-4793-8D82-10DED955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76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8" name="s2-s6-code">
            <a:extLst xmlns:a="http://schemas.openxmlformats.org/drawingml/2006/main">
              <a:ext uri="{FF2B5EF4-FFF2-40B4-BE49-F238E27FC236}">
                <a16:creationId xmlns:a16="http://schemas.microsoft.com/office/drawing/2014/main" id="{D9E94CF1-2A3D-4356-806A-E63FDA41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95800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S6</a:t>
            </a:r>
          </a:p>
        </p:txBody>
      </p:sp>
      <p:sp>
        <p:nvSpPr>
          <p:cNvPr id="29" name="s2-s6-label">
            <a:extLst xmlns:a="http://schemas.openxmlformats.org/drawingml/2006/main">
              <a:ext uri="{FF2B5EF4-FFF2-40B4-BE49-F238E27FC236}">
                <a16:creationId xmlns:a16="http://schemas.microsoft.com/office/drawing/2014/main" id="{E12AA455-9214-4A60-B289-5F030F93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2006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630"/>
                </a:solidFill>
                <a:latin typeface="Arial"/>
                <a:ea typeface="Arial"/>
                <a:cs typeface="Arial"/>
              </a:rPr>
              <a:t>Escuela Rural</a:t>
            </a:r>
          </a:p>
        </p:txBody>
      </p:sp>
      <p:sp>
        <p:nvSpPr>
          <p:cNvPr id="30" name="s2-s7">
            <a:extLst xmlns:a="http://schemas.openxmlformats.org/drawingml/2006/main">
              <a:ext uri="{FF2B5EF4-FFF2-40B4-BE49-F238E27FC236}">
                <a16:creationId xmlns:a16="http://schemas.microsoft.com/office/drawing/2014/main" id="{197E07CC-F08D-41B2-A1DD-E867C476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809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1" name="s2-s7-code">
            <a:extLst xmlns:a="http://schemas.openxmlformats.org/drawingml/2006/main">
              <a:ext uri="{FF2B5EF4-FFF2-40B4-BE49-F238E27FC236}">
                <a16:creationId xmlns:a16="http://schemas.microsoft.com/office/drawing/2014/main" id="{42739680-4088-482F-B9ED-CBA0D9BB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828800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S7</a:t>
            </a:r>
          </a:p>
        </p:txBody>
      </p:sp>
      <p:sp>
        <p:nvSpPr>
          <p:cNvPr id="32" name="s2-s7-label">
            <a:extLst xmlns:a="http://schemas.openxmlformats.org/drawingml/2006/main">
              <a:ext uri="{FF2B5EF4-FFF2-40B4-BE49-F238E27FC236}">
                <a16:creationId xmlns:a16="http://schemas.microsoft.com/office/drawing/2014/main" id="{30A0DA7C-AB96-4C83-88A9-3C022054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5336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630"/>
                </a:solidFill>
                <a:latin typeface="Arial"/>
                <a:ea typeface="Arial"/>
                <a:cs typeface="Arial"/>
              </a:rPr>
              <a:t>P. Salud</a:t>
            </a:r>
          </a:p>
        </p:txBody>
      </p:sp>
      <p:cxnSp>
        <p:nvCxnSpPr>
          <p:cNvPr id="149" name=""/>
          <p:cNvCxnSpPr>
            <a:stCxn xmlns:a="http://schemas.openxmlformats.org/drawingml/2006/main" id="12" idx="7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V="1">
            <a:off x="6665107" y="2759857"/>
            <a:ext cx="909662" cy="43341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8D99"/>
            </a:solidFill>
            <a:prstDash val="solid"/>
          </a:ln>
        </p:spPr>
      </p:cxnSp>
      <p:cxnSp>
        <p:nvCxnSpPr>
          <p:cNvPr id="150" name=""/>
          <p:cNvCxnSpPr>
            <a:stCxn xmlns:a="http://schemas.openxmlformats.org/drawingml/2006/main" id="12" idx="5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665107" y="3664732"/>
            <a:ext cx="909662" cy="52866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8D99"/>
            </a:solidFill>
            <a:prstDash val="solid"/>
          </a:ln>
        </p:spPr>
      </p:cxnSp>
      <p:cxnSp>
        <p:nvCxnSpPr>
          <p:cNvPr id="151" name=""/>
          <p:cNvCxnSpPr>
            <a:stCxn xmlns:a="http://schemas.openxmlformats.org/drawingml/2006/main" id="15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V="1">
            <a:off x="8143875" y="2143125"/>
            <a:ext cx="9525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8D99"/>
            </a:solidFill>
            <a:prstDash val="solid"/>
          </a:ln>
        </p:spPr>
      </p:cxnSp>
      <p:cxnSp>
        <p:nvCxnSpPr>
          <p:cNvPr id="152" name=""/>
          <p:cNvCxnSpPr>
            <a:stCxn xmlns:a="http://schemas.openxmlformats.org/drawingml/2006/main" id="15" idx="5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046232" y="2759857"/>
            <a:ext cx="1147787" cy="43341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8D99"/>
            </a:solidFill>
            <a:prstDash val="solid"/>
          </a:ln>
        </p:spPr>
      </p:cxnSp>
      <p:cxnSp>
        <p:nvCxnSpPr>
          <p:cNvPr id="153" name=""/>
          <p:cNvCxnSpPr>
            <a:stCxn xmlns:a="http://schemas.openxmlformats.org/drawingml/2006/main" id="18" idx="6"/>
            <a:endCxn xmlns:a="http://schemas.openxmlformats.org/drawingml/2006/main" id="27" idx="2"/>
          </p:cNvCxnSpPr>
          <p:nvPr/>
        </p:nvCxnSpPr>
        <p:spPr>
          <a:xfrm xmlns:a="http://schemas.openxmlformats.org/drawingml/2006/main">
            <a:off x="8143875" y="4429125"/>
            <a:ext cx="9525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8D99"/>
            </a:solidFill>
            <a:prstDash val="solid"/>
          </a:ln>
        </p:spPr>
      </p:cxnSp>
      <p:cxnSp>
        <p:nvCxnSpPr>
          <p:cNvPr id="154" name=""/>
          <p:cNvCxnSpPr>
            <a:stCxn xmlns:a="http://schemas.openxmlformats.org/drawingml/2006/main" id="21" idx="6"/>
            <a:endCxn xmlns:a="http://schemas.openxmlformats.org/drawingml/2006/main" id="30" idx="2"/>
          </p:cNvCxnSpPr>
          <p:nvPr/>
        </p:nvCxnSpPr>
        <p:spPr>
          <a:xfrm xmlns:a="http://schemas.openxmlformats.org/drawingml/2006/main">
            <a:off x="9763125" y="2143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8D99"/>
            </a:solidFill>
            <a:prstDash val="solid"/>
          </a:ln>
        </p:spPr>
      </p:cxnSp>
      <p:sp>
        <p:nvSpPr>
          <p:cNvPr id="39" name="network-levels">
            <a:extLst xmlns:a="http://schemas.openxmlformats.org/drawingml/2006/main">
              <a:ext uri="{FF2B5EF4-FFF2-40B4-BE49-F238E27FC236}">
                <a16:creationId xmlns:a16="http://schemas.microsoft.com/office/drawing/2014/main" id="{40FEC28B-F333-419B-8165-F9096A68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0656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656F"/>
                </a:solidFill>
                <a:latin typeface="Arial"/>
                <a:ea typeface="Arial"/>
                <a:cs typeface="Arial"/>
              </a:rPr>
              <a:t>NIVEL 0                 NIVEL 1                  NIVEL 2               NIVEL 3</a:t>
            </a:r>
          </a:p>
        </p:txBody>
      </p:sp>
      <p:sp>
        <p:nvSpPr>
          <p:cNvPr id="40" name="network-order">
            <a:extLst xmlns:a="http://schemas.openxmlformats.org/drawingml/2006/main">
              <a:ext uri="{FF2B5EF4-FFF2-40B4-BE49-F238E27FC236}">
                <a16:creationId xmlns:a16="http://schemas.microsoft.com/office/drawing/2014/main" id="{D6D70A5C-BAFE-47D4-992D-9CB3BA3E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57875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Orden esperado: S1 → S2 → S3 → S4 → S5 → S6 → S7</a:t>
            </a:r>
          </a:p>
        </p:txBody>
      </p:sp>
    </p:spTree>
    <p:extLst>
      <p:ext uri="{BB962C8B-B14F-4D97-AF65-F5344CB8AC3E}">
        <p14:creationId xmlns:p14="http://schemas.microsoft.com/office/powerpoint/2010/main" val="1193165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3">
            <a:extLst xmlns:a="http://schemas.openxmlformats.org/drawingml/2006/main">
              <a:ext uri="{FF2B5EF4-FFF2-40B4-BE49-F238E27FC236}">
                <a16:creationId xmlns:a16="http://schemas.microsoft.com/office/drawing/2014/main" id="{2E058BF5-9208-4FEC-99AF-B3B33785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BFS completa cada nivel antes de avanzar</a:t>
            </a:r>
          </a:p>
        </p:txBody>
      </p:sp>
      <p:sp>
        <p:nvSpPr>
          <p:cNvPr id="2" name="accent-3">
            <a:extLst xmlns:a="http://schemas.openxmlformats.org/drawingml/2006/main">
              <a:ext uri="{FF2B5EF4-FFF2-40B4-BE49-F238E27FC236}">
                <a16:creationId xmlns:a16="http://schemas.microsoft.com/office/drawing/2014/main" id="{DE9EF211-C705-4B12-A773-FA34A462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peaker-bg-3">
            <a:extLst xmlns:a="http://schemas.openxmlformats.org/drawingml/2006/main">
              <a:ext uri="{FF2B5EF4-FFF2-40B4-BE49-F238E27FC236}">
                <a16:creationId xmlns:a16="http://schemas.microsoft.com/office/drawing/2014/main" id="{589947E1-8B9C-4738-AAC6-FB884B20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"/>
            <a:ext cx="1428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peaker-3">
            <a:extLst xmlns:a="http://schemas.openxmlformats.org/drawingml/2006/main">
              <a:ext uri="{FF2B5EF4-FFF2-40B4-BE49-F238E27FC236}">
                <a16:creationId xmlns:a16="http://schemas.microsoft.com/office/drawing/2014/main" id="{477A9367-3F96-4A3A-8838-77FBFA27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SANTIAGO</a:t>
            </a:r>
          </a:p>
        </p:txBody>
      </p:sp>
      <p:sp>
        <p:nvSpPr>
          <p:cNvPr id="5" name="number-3">
            <a:extLst xmlns:a="http://schemas.openxmlformats.org/drawingml/2006/main">
              <a:ext uri="{FF2B5EF4-FFF2-40B4-BE49-F238E27FC236}">
                <a16:creationId xmlns:a16="http://schemas.microsoft.com/office/drawing/2014/main" id="{A640CF0D-6D90-4BA8-854E-BDE5D339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065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065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bfs-lead">
            <a:extLst xmlns:a="http://schemas.openxmlformats.org/drawingml/2006/main">
              <a:ext uri="{FF2B5EF4-FFF2-40B4-BE49-F238E27FC236}">
                <a16:creationId xmlns:a16="http://schemas.microsoft.com/office/drawing/2014/main" id="{1804357A-B135-4DCE-BBFF-D6DF581D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630"/>
                </a:solidFill>
                <a:latin typeface="Arial"/>
                <a:ea typeface="Arial"/>
                <a:cs typeface="Arial"/>
              </a:rPr>
              <a:t>Una cola FIFO conserva el orden de descubrimiento.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0FE82311-7C14-4E34-9C04-23FC4C8F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14288">
            <a:solidFill>
              <a:srgbClr val="B8C8CE"/>
            </a:solidFill>
            <a:prstDash val="solid"/>
          </a:ln>
        </p:spPr>
      </p:sp>
      <p:sp>
        <p:nvSpPr>
          <p:cNvPr id="8" name="step-2">
            <a:extLst xmlns:a="http://schemas.openxmlformats.org/drawingml/2006/main">
              <a:ext uri="{FF2B5EF4-FFF2-40B4-BE49-F238E27FC236}">
                <a16:creationId xmlns:a16="http://schemas.microsoft.com/office/drawing/2014/main" id="{07D98140-8128-4ECD-B79B-5A79F201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14288">
            <a:solidFill>
              <a:srgbClr val="B8C8CE"/>
            </a:solidFill>
            <a:prstDash val="solid"/>
          </a:ln>
        </p:spPr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321E784A-F846-4383-9EBC-E8488787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14288">
            <a:solidFill>
              <a:srgbClr val="B8C8CE"/>
            </a:solidFill>
            <a:prstDash val="solid"/>
          </a:ln>
        </p:spPr>
      </p:sp>
      <p:sp>
        <p:nvSpPr>
          <p:cNvPr id="10" name="step-4">
            <a:extLst xmlns:a="http://schemas.openxmlformats.org/drawingml/2006/main">
              <a:ext uri="{FF2B5EF4-FFF2-40B4-BE49-F238E27FC236}">
                <a16:creationId xmlns:a16="http://schemas.microsoft.com/office/drawing/2014/main" id="{4E59EDFC-629F-404C-A564-4C48A5A1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19375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14288">
            <a:solidFill>
              <a:srgbClr val="B8C8CE"/>
            </a:solidFill>
            <a:prstDash val="solid"/>
          </a:ln>
        </p:spPr>
      </p:sp>
      <p:sp>
        <p:nvSpPr>
          <p:cNvPr id="11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3288CB7C-C2D7-440F-9731-BAF12F14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86150"/>
            <a:ext cx="438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774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FD875B9C-5C65-4D84-8EB4-98D06CA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86150"/>
            <a:ext cx="438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774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step-arrow-3">
            <a:extLst xmlns:a="http://schemas.openxmlformats.org/drawingml/2006/main">
              <a:ext uri="{FF2B5EF4-FFF2-40B4-BE49-F238E27FC236}">
                <a16:creationId xmlns:a16="http://schemas.microsoft.com/office/drawing/2014/main" id="{1565F8B0-F8BA-4D47-981D-B391A86E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86150"/>
            <a:ext cx="438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774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step-num-1">
            <a:extLst xmlns:a="http://schemas.openxmlformats.org/drawingml/2006/main">
              <a:ext uri="{FF2B5EF4-FFF2-40B4-BE49-F238E27FC236}">
                <a16:creationId xmlns:a16="http://schemas.microsoft.com/office/drawing/2014/main" id="{BBBFF792-4661-42E2-9837-F9550ADD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7E3B2FE6-C007-42CA-A285-56F36A8C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1940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INICIAR</a:t>
            </a:r>
          </a:p>
        </p:txBody>
      </p:sp>
      <p:sp>
        <p:nvSpPr>
          <p:cNvPr id="16" name="step-body-1">
            <a:extLst xmlns:a="http://schemas.openxmlformats.org/drawingml/2006/main">
              <a:ext uri="{FF2B5EF4-FFF2-40B4-BE49-F238E27FC236}">
                <a16:creationId xmlns:a16="http://schemas.microsoft.com/office/drawing/2014/main" id="{AA043332-302C-45D5-A78C-F70BF271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82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630"/>
                </a:solidFill>
                <a:latin typeface="Arial"/>
                <a:ea typeface="Arial"/>
                <a:cs typeface="Arial"/>
              </a:rPr>
              <a:t>Cola = [S1]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630"/>
                </a:solidFill>
                <a:latin typeface="Arial"/>
                <a:ea typeface="Arial"/>
                <a:cs typeface="Arial"/>
              </a:rPr>
              <a:t>Visitados = {S1}</a:t>
            </a:r>
          </a:p>
        </p:txBody>
      </p:sp>
      <p:sp>
        <p:nvSpPr>
          <p:cNvPr id="17" name="step-num-2">
            <a:extLst xmlns:a="http://schemas.openxmlformats.org/drawingml/2006/main">
              <a:ext uri="{FF2B5EF4-FFF2-40B4-BE49-F238E27FC236}">
                <a16:creationId xmlns:a16="http://schemas.microsoft.com/office/drawing/2014/main" id="{24B556EA-2D7B-4D33-BF7C-FB4BFE6E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00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69F39339-2ABA-409D-B9C0-5BB8182B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EXTRAER</a:t>
            </a:r>
          </a:p>
        </p:txBody>
      </p:sp>
      <p:sp>
        <p:nvSpPr>
          <p:cNvPr id="19" name="step-body-2">
            <a:extLst xmlns:a="http://schemas.openxmlformats.org/drawingml/2006/main">
              <a:ext uri="{FF2B5EF4-FFF2-40B4-BE49-F238E27FC236}">
                <a16:creationId xmlns:a16="http://schemas.microsoft.com/office/drawing/2014/main" id="{1157218A-C8DF-49B4-842B-0CCB1790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24250"/>
            <a:ext cx="182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630"/>
                </a:solidFill>
                <a:latin typeface="Arial"/>
                <a:ea typeface="Arial"/>
                <a:cs typeface="Arial"/>
              </a:rPr>
              <a:t>Sale el primero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630"/>
                </a:solidFill>
                <a:latin typeface="Arial"/>
                <a:ea typeface="Arial"/>
                <a:cs typeface="Arial"/>
              </a:rPr>
              <a:t>y se registra</a:t>
            </a:r>
          </a:p>
        </p:txBody>
      </p:sp>
      <p:sp>
        <p:nvSpPr>
          <p:cNvPr id="20" name="step-num-3">
            <a:extLst xmlns:a="http://schemas.openxmlformats.org/drawingml/2006/main">
              <a:ext uri="{FF2B5EF4-FFF2-40B4-BE49-F238E27FC236}">
                <a16:creationId xmlns:a16="http://schemas.microsoft.com/office/drawing/2014/main" id="{E32A3088-D7B1-49AC-82DA-B1439D01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B5F2032B-40D1-42B4-8473-39859717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DESCUBRIR</a:t>
            </a:r>
          </a:p>
        </p:txBody>
      </p:sp>
      <p:sp>
        <p:nvSpPr>
          <p:cNvPr id="2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B75BA1C7-6CA9-4BEC-BB3B-00A9FBCA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24250"/>
            <a:ext cx="182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630"/>
                </a:solidFill>
                <a:latin typeface="Arial"/>
                <a:ea typeface="Arial"/>
                <a:cs typeface="Arial"/>
              </a:rPr>
              <a:t>Agregar vecinos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630"/>
                </a:solidFill>
                <a:latin typeface="Arial"/>
                <a:ea typeface="Arial"/>
                <a:cs typeface="Arial"/>
              </a:rPr>
              <a:t>no visitados</a:t>
            </a:r>
          </a:p>
        </p:txBody>
      </p:sp>
      <p:sp>
        <p:nvSpPr>
          <p:cNvPr id="23" name="step-num-4">
            <a:extLst xmlns:a="http://schemas.openxmlformats.org/drawingml/2006/main">
              <a:ext uri="{FF2B5EF4-FFF2-40B4-BE49-F238E27FC236}">
                <a16:creationId xmlns:a16="http://schemas.microsoft.com/office/drawing/2014/main" id="{FE62D916-7C49-45EE-A247-1231A3AE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00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EE2AA8C2-20CF-4019-993A-6AE34DED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1940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REPETIR</a:t>
            </a:r>
          </a:p>
        </p:txBody>
      </p:sp>
      <p:sp>
        <p:nvSpPr>
          <p:cNvPr id="25" name="step-body-4">
            <a:extLst xmlns:a="http://schemas.openxmlformats.org/drawingml/2006/main">
              <a:ext uri="{FF2B5EF4-FFF2-40B4-BE49-F238E27FC236}">
                <a16:creationId xmlns:a16="http://schemas.microsoft.com/office/drawing/2014/main" id="{27FAC48E-C20B-4318-BEED-90C313AB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24250"/>
            <a:ext cx="182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630"/>
                </a:solidFill>
                <a:latin typeface="Arial"/>
                <a:ea typeface="Arial"/>
                <a:cs typeface="Arial"/>
              </a:rPr>
              <a:t>Hasta vaciar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630"/>
                </a:solidFill>
                <a:latin typeface="Arial"/>
                <a:ea typeface="Arial"/>
                <a:cs typeface="Arial"/>
              </a:rPr>
              <a:t>la cola</a:t>
            </a:r>
          </a:p>
        </p:txBody>
      </p:sp>
      <p:sp>
        <p:nvSpPr>
          <p:cNvPr id="26" name="bfs-result">
            <a:extLst xmlns:a="http://schemas.openxmlformats.org/drawingml/2006/main">
              <a:ext uri="{FF2B5EF4-FFF2-40B4-BE49-F238E27FC236}">
                <a16:creationId xmlns:a16="http://schemas.microsoft.com/office/drawing/2014/main" id="{63CC3E16-BA0F-45C6-8027-568895C9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38750"/>
            <a:ext cx="8572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fs-result-text">
            <a:extLst xmlns:a="http://schemas.openxmlformats.org/drawingml/2006/main">
              <a:ext uri="{FF2B5EF4-FFF2-40B4-BE49-F238E27FC236}">
                <a16:creationId xmlns:a16="http://schemas.microsoft.com/office/drawing/2014/main" id="{2BBB69FF-DFAE-477F-BF53-6A6923D6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Resultado: orden por niveles + ruta mínima en número de enlaces</a:t>
            </a:r>
          </a:p>
        </p:txBody>
      </p:sp>
    </p:spTree>
    <p:extLst>
      <p:ext uri="{BB962C8B-B14F-4D97-AF65-F5344CB8AC3E}">
        <p14:creationId xmlns:p14="http://schemas.microsoft.com/office/powerpoint/2010/main" val="1166398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4">
            <a:extLst xmlns:a="http://schemas.openxmlformats.org/drawingml/2006/main">
              <a:ext uri="{FF2B5EF4-FFF2-40B4-BE49-F238E27FC236}">
                <a16:creationId xmlns:a16="http://schemas.microsoft.com/office/drawing/2014/main" id="{DA784885-EA95-4C2C-8ABE-C77701D9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Python resuelve el recorrido sin repetir nodos</a:t>
            </a:r>
          </a:p>
        </p:txBody>
      </p:sp>
      <p:sp>
        <p:nvSpPr>
          <p:cNvPr id="2" name="accent-4">
            <a:extLst xmlns:a="http://schemas.openxmlformats.org/drawingml/2006/main">
              <a:ext uri="{FF2B5EF4-FFF2-40B4-BE49-F238E27FC236}">
                <a16:creationId xmlns:a16="http://schemas.microsoft.com/office/drawing/2014/main" id="{441EEA5F-513B-494C-AFFE-0CCDF2AB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peaker-bg-4">
            <a:extLst xmlns:a="http://schemas.openxmlformats.org/drawingml/2006/main">
              <a:ext uri="{FF2B5EF4-FFF2-40B4-BE49-F238E27FC236}">
                <a16:creationId xmlns:a16="http://schemas.microsoft.com/office/drawing/2014/main" id="{C61DCDFE-9394-4E64-A463-6F9D7501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"/>
            <a:ext cx="1428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peaker-4">
            <a:extLst xmlns:a="http://schemas.openxmlformats.org/drawingml/2006/main">
              <a:ext uri="{FF2B5EF4-FFF2-40B4-BE49-F238E27FC236}">
                <a16:creationId xmlns:a16="http://schemas.microsoft.com/office/drawing/2014/main" id="{303A9B2B-BC79-4733-B4DB-C81CF9E9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MATEO</a:t>
            </a:r>
          </a:p>
        </p:txBody>
      </p:sp>
      <p:sp>
        <p:nvSpPr>
          <p:cNvPr id="5" name="number-4">
            <a:extLst xmlns:a="http://schemas.openxmlformats.org/drawingml/2006/main">
              <a:ext uri="{FF2B5EF4-FFF2-40B4-BE49-F238E27FC236}">
                <a16:creationId xmlns:a16="http://schemas.microsoft.com/office/drawing/2014/main" id="{3062272E-D71C-4E81-AD7F-7CB2287E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065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065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code-label">
            <a:extLst xmlns:a="http://schemas.openxmlformats.org/drawingml/2006/main">
              <a:ext uri="{FF2B5EF4-FFF2-40B4-BE49-F238E27FC236}">
                <a16:creationId xmlns:a16="http://schemas.microsoft.com/office/drawing/2014/main" id="{D0FFC1F7-0D73-4668-AB3E-0193CFC6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EXTRACTO REAL DE bfs.py</a:t>
            </a:r>
          </a:p>
        </p:txBody>
      </p:sp>
      <p:sp>
        <p:nvSpPr>
          <p:cNvPr id="7" name="code-panel">
            <a:extLst xmlns:a="http://schemas.openxmlformats.org/drawingml/2006/main">
              <a:ext uri="{FF2B5EF4-FFF2-40B4-BE49-F238E27FC236}">
                <a16:creationId xmlns:a16="http://schemas.microsoft.com/office/drawing/2014/main" id="{36822294-9D52-43A6-B22D-19A3B4DD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810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de">
            <a:extLst xmlns:a="http://schemas.openxmlformats.org/drawingml/2006/main">
              <a:ext uri="{FF2B5EF4-FFF2-40B4-BE49-F238E27FC236}">
                <a16:creationId xmlns:a16="http://schemas.microsoft.com/office/drawing/2014/main" id="{68FD5BE5-9B01-4EA5-91B2-AB0F9912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533400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6F8"/>
                </a:solidFill>
                <a:latin typeface="Arial"/>
                <a:ea typeface="Arial"/>
                <a:cs typeface="Arial"/>
              </a:rPr>
              <a:t>queue = deque([origin])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6F8"/>
                </a:solidFill>
                <a:latin typeface="Arial"/>
                <a:ea typeface="Arial"/>
                <a:cs typeface="Arial"/>
              </a:rPr>
              <a:t>visited = {origin}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6F8"/>
                </a:solidFill>
                <a:latin typeface="Arial"/>
                <a:ea typeface="Arial"/>
                <a:cs typeface="Arial"/>
              </a:rPr>
              <a:t>levels = {origin: 0}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6F8"/>
                </a:solidFill>
                <a:latin typeface="Arial"/>
                <a:ea typeface="Arial"/>
                <a:cs typeface="Arial"/>
              </a:rPr>
              <a:t>while queue: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6F8"/>
                </a:solidFill>
                <a:latin typeface="Arial"/>
                <a:ea typeface="Arial"/>
                <a:cs typeface="Arial"/>
              </a:rPr>
              <a:t>    current = queue.popleft()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6F8"/>
                </a:solidFill>
                <a:latin typeface="Arial"/>
                <a:ea typeface="Arial"/>
                <a:cs typeface="Arial"/>
              </a:rPr>
              <a:t>    for neighbor in network.neighbors[current]: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6F8"/>
                </a:solidFill>
                <a:latin typeface="Arial"/>
                <a:ea typeface="Arial"/>
                <a:cs typeface="Arial"/>
              </a:rPr>
              <a:t>        if neighbor not in visited: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6F8"/>
                </a:solidFill>
                <a:latin typeface="Arial"/>
                <a:ea typeface="Arial"/>
                <a:cs typeface="Arial"/>
              </a:rPr>
              <a:t>            visited.add(neighbor)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6F8"/>
                </a:solidFill>
                <a:latin typeface="Arial"/>
                <a:ea typeface="Arial"/>
                <a:cs typeface="Arial"/>
              </a:rPr>
              <a:t>            levels[neighbor] = levels[current] + 1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6F8"/>
                </a:solidFill>
                <a:latin typeface="Arial"/>
                <a:ea typeface="Arial"/>
                <a:cs typeface="Arial"/>
              </a:rPr>
              <a:t>            queue.append(neighbor)</a:t>
            </a:r>
          </a:p>
        </p:txBody>
      </p:sp>
      <p:sp>
        <p:nvSpPr>
          <p:cNvPr id="9" name="demo-label">
            <a:extLst xmlns:a="http://schemas.openxmlformats.org/drawingml/2006/main">
              <a:ext uri="{FF2B5EF4-FFF2-40B4-BE49-F238E27FC236}">
                <a16:creationId xmlns:a16="http://schemas.microsoft.com/office/drawing/2014/main" id="{D2ED83CE-E788-4340-AB09-C6CBA1DB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5240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SALIDA DE LA DEMOSTRACIÓN</a:t>
            </a:r>
          </a:p>
        </p:txBody>
      </p:sp>
      <p:sp>
        <p:nvSpPr>
          <p:cNvPr id="10" name="demo-panel">
            <a:extLst xmlns:a="http://schemas.openxmlformats.org/drawingml/2006/main">
              <a:ext uri="{FF2B5EF4-FFF2-40B4-BE49-F238E27FC236}">
                <a16:creationId xmlns:a16="http://schemas.microsoft.com/office/drawing/2014/main" id="{FFC3E7BA-1C49-483C-A2C3-8C2E59BD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43100"/>
            <a:ext cx="4714875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B8C8CE"/>
            </a:solidFill>
            <a:prstDash val="solid"/>
          </a:ln>
        </p:spPr>
      </p:sp>
      <p:sp>
        <p:nvSpPr>
          <p:cNvPr id="11" name="demo-output">
            <a:extLst xmlns:a="http://schemas.openxmlformats.org/drawingml/2006/main">
              <a:ext uri="{FF2B5EF4-FFF2-40B4-BE49-F238E27FC236}">
                <a16:creationId xmlns:a16="http://schemas.microsoft.com/office/drawing/2014/main" id="{5CE15B0A-3653-480B-B58D-BBD0A2BF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52650"/>
            <a:ext cx="4143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Origen: S1 - Tanque</a:t>
            </a:r>
          </a:p>
          <a:p xmlns:a="http://schemas.openxmlformats.org/drawingml/2006/main">
            <a:r>
              <a:t>Nivel 1: S2, S3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Nivel 2: S4, S5, S6</a:t>
            </a:r>
          </a:p>
          <a:p xmlns:a="http://schemas.openxmlformats.org/drawingml/2006/main">
            <a:r>
              <a:t>Nivel 3: S7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Ruta a S7: S1 -&gt; S2 -&gt; S4 -&gt; S7</a:t>
            </a:r>
          </a:p>
          <a:p xmlns:a="http://schemas.openxmlformats.org/drawingml/2006/main">
            <a:r>
              <a:t>No alcanzables: ninguno</a:t>
            </a:r>
          </a:p>
        </p:txBody>
      </p:sp>
      <p:sp>
        <p:nvSpPr>
          <p:cNvPr id="12" name="implementation-note">
            <a:extLst xmlns:a="http://schemas.openxmlformats.org/drawingml/2006/main">
              <a:ext uri="{FF2B5EF4-FFF2-40B4-BE49-F238E27FC236}">
                <a16:creationId xmlns:a16="http://schemas.microsoft.com/office/drawing/2014/main" id="{D7606E2E-F015-4050-8E22-A43B3C02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762500"/>
            <a:ext cx="47148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mplementation-note-text">
            <a:extLst xmlns:a="http://schemas.openxmlformats.org/drawingml/2006/main">
              <a:ext uri="{FF2B5EF4-FFF2-40B4-BE49-F238E27FC236}">
                <a16:creationId xmlns:a16="http://schemas.microsoft.com/office/drawing/2014/main" id="{53500445-7915-44CE-9661-5301F36E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76800"/>
            <a:ext cx="4238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2630"/>
                </a:solidFill>
                <a:latin typeface="Arial"/>
                <a:ea typeface="Arial"/>
                <a:cs typeface="Arial"/>
              </a:rPr>
              <a:t>network.neighbors: orden validado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2630"/>
                </a:solidFill>
                <a:latin typeface="Arial"/>
                <a:ea typeface="Arial"/>
                <a:cs typeface="Arial"/>
              </a:rPr>
              <a:t>deque + set: recorrido eficiente</a:t>
            </a:r>
          </a:p>
        </p:txBody>
      </p:sp>
    </p:spTree>
    <p:extLst>
      <p:ext uri="{BB962C8B-B14F-4D97-AF65-F5344CB8AC3E}">
        <p14:creationId xmlns:p14="http://schemas.microsoft.com/office/powerpoint/2010/main" val="19966233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5">
            <a:extLst xmlns:a="http://schemas.openxmlformats.org/drawingml/2006/main">
              <a:ext uri="{FF2B5EF4-FFF2-40B4-BE49-F238E27FC236}">
                <a16:creationId xmlns:a16="http://schemas.microsoft.com/office/drawing/2014/main" id="{65EAA783-5DB3-4D0C-9C29-4839A97F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Las pruebas confirman un recorrido confiable</a:t>
            </a:r>
          </a:p>
        </p:txBody>
      </p:sp>
      <p:sp>
        <p:nvSpPr>
          <p:cNvPr id="2" name="accent-5">
            <a:extLst xmlns:a="http://schemas.openxmlformats.org/drawingml/2006/main">
              <a:ext uri="{FF2B5EF4-FFF2-40B4-BE49-F238E27FC236}">
                <a16:creationId xmlns:a16="http://schemas.microsoft.com/office/drawing/2014/main" id="{63024684-140F-4ECE-A4EB-6EF538A7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peaker-bg-5">
            <a:extLst xmlns:a="http://schemas.openxmlformats.org/drawingml/2006/main">
              <a:ext uri="{FF2B5EF4-FFF2-40B4-BE49-F238E27FC236}">
                <a16:creationId xmlns:a16="http://schemas.microsoft.com/office/drawing/2014/main" id="{9A7713AE-9410-4DF0-A600-F9001FA9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"/>
            <a:ext cx="1428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peaker-5">
            <a:extLst xmlns:a="http://schemas.openxmlformats.org/drawingml/2006/main">
              <a:ext uri="{FF2B5EF4-FFF2-40B4-BE49-F238E27FC236}">
                <a16:creationId xmlns:a16="http://schemas.microsoft.com/office/drawing/2014/main" id="{4F20F196-2BAB-4859-AB32-6FEFEA81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MATEO</a:t>
            </a:r>
          </a:p>
        </p:txBody>
      </p:sp>
      <p:sp>
        <p:nvSpPr>
          <p:cNvPr id="5" name="number-5">
            <a:extLst xmlns:a="http://schemas.openxmlformats.org/drawingml/2006/main">
              <a:ext uri="{FF2B5EF4-FFF2-40B4-BE49-F238E27FC236}">
                <a16:creationId xmlns:a16="http://schemas.microsoft.com/office/drawing/2014/main" id="{E3DBA658-6460-4A9E-8188-5EA5FC81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065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0656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metrics-lead">
            <a:extLst xmlns:a="http://schemas.openxmlformats.org/drawingml/2006/main">
              <a:ext uri="{FF2B5EF4-FFF2-40B4-BE49-F238E27FC236}">
                <a16:creationId xmlns:a16="http://schemas.microsoft.com/office/drawing/2014/main" id="{52227736-7689-448C-BDB5-50F2A994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2630"/>
                </a:solidFill>
                <a:latin typeface="Arial"/>
                <a:ea typeface="Arial"/>
                <a:cs typeface="Arial"/>
              </a:rPr>
              <a:t>El algoritmo cubre el caso normal y también sus fallas previsibles.</a:t>
            </a:r>
          </a:p>
        </p:txBody>
      </p:sp>
      <p:sp>
        <p:nvSpPr>
          <p:cNvPr id="7" name="metric-casos aprobados">
            <a:extLst xmlns:a="http://schemas.openxmlformats.org/drawingml/2006/main">
              <a:ext uri="{FF2B5EF4-FFF2-40B4-BE49-F238E27FC236}">
                <a16:creationId xmlns:a16="http://schemas.microsoft.com/office/drawing/2014/main" id="{A6894EA5-02F8-4F0D-8ED6-065C6E9A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casos aprobados">
            <a:extLst xmlns:a="http://schemas.openxmlformats.org/drawingml/2006/main">
              <a:ext uri="{FF2B5EF4-FFF2-40B4-BE49-F238E27FC236}">
                <a16:creationId xmlns:a16="http://schemas.microsoft.com/office/drawing/2014/main" id="{21984BDB-4D21-4F48-B8EF-F74E8FA0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 / 6</a:t>
            </a:r>
          </a:p>
        </p:txBody>
      </p:sp>
      <p:sp>
        <p:nvSpPr>
          <p:cNvPr id="9" name="metric-label-casos aprobados">
            <a:extLst xmlns:a="http://schemas.openxmlformats.org/drawingml/2006/main">
              <a:ext uri="{FF2B5EF4-FFF2-40B4-BE49-F238E27FC236}">
                <a16:creationId xmlns:a16="http://schemas.microsoft.com/office/drawing/2014/main" id="{75D052BF-3AB4-4EAC-9D70-6E80705F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2630"/>
                </a:solidFill>
                <a:latin typeface="Arial"/>
                <a:ea typeface="Arial"/>
                <a:cs typeface="Arial"/>
              </a:rPr>
              <a:t>pruebas aprobadas</a:t>
            </a:r>
          </a:p>
        </p:txBody>
      </p:sp>
      <p:sp>
        <p:nvSpPr>
          <p:cNvPr id="10" name="metric-tiempo de ejecución">
            <a:extLst xmlns:a="http://schemas.openxmlformats.org/drawingml/2006/main">
              <a:ext uri="{FF2B5EF4-FFF2-40B4-BE49-F238E27FC236}">
                <a16:creationId xmlns:a16="http://schemas.microsoft.com/office/drawing/2014/main" id="{E69D9993-5CB2-42E0-ABA2-4004A8A0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28875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value-tiempo de ejecución">
            <a:extLst xmlns:a="http://schemas.openxmlformats.org/drawingml/2006/main">
              <a:ext uri="{FF2B5EF4-FFF2-40B4-BE49-F238E27FC236}">
                <a16:creationId xmlns:a16="http://schemas.microsoft.com/office/drawing/2014/main" id="{4BC7421B-9FD0-432A-A827-896AFC88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146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O(V + E)</a:t>
            </a:r>
          </a:p>
        </p:txBody>
      </p:sp>
      <p:sp>
        <p:nvSpPr>
          <p:cNvPr id="12" name="metric-label-tiempo de ejecución">
            <a:extLst xmlns:a="http://schemas.openxmlformats.org/drawingml/2006/main">
              <a:ext uri="{FF2B5EF4-FFF2-40B4-BE49-F238E27FC236}">
                <a16:creationId xmlns:a16="http://schemas.microsoft.com/office/drawing/2014/main" id="{A24ABD7B-4D16-4CEE-8F0E-CA8D9817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623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2630"/>
                </a:solidFill>
                <a:latin typeface="Arial"/>
                <a:ea typeface="Arial"/>
                <a:cs typeface="Arial"/>
              </a:rPr>
              <a:t>tiempo de ejecución</a:t>
            </a:r>
          </a:p>
        </p:txBody>
      </p:sp>
      <p:sp>
        <p:nvSpPr>
          <p:cNvPr id="13" name="metric-sensores duplicados">
            <a:extLst xmlns:a="http://schemas.openxmlformats.org/drawingml/2006/main">
              <a:ext uri="{FF2B5EF4-FFF2-40B4-BE49-F238E27FC236}">
                <a16:creationId xmlns:a16="http://schemas.microsoft.com/office/drawing/2014/main" id="{803D7157-5C5B-45C8-99D9-CA4DF2EF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28875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value-sensores duplicados">
            <a:extLst xmlns:a="http://schemas.openxmlformats.org/drawingml/2006/main">
              <a:ext uri="{FF2B5EF4-FFF2-40B4-BE49-F238E27FC236}">
                <a16:creationId xmlns:a16="http://schemas.microsoft.com/office/drawing/2014/main" id="{A84E2B50-520C-49EE-83EB-3CB7C95F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146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metric-label-sensores duplicados">
            <a:extLst xmlns:a="http://schemas.openxmlformats.org/drawingml/2006/main">
              <a:ext uri="{FF2B5EF4-FFF2-40B4-BE49-F238E27FC236}">
                <a16:creationId xmlns:a16="http://schemas.microsoft.com/office/drawing/2014/main" id="{293D9199-FBB4-4E38-864A-EDE96358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623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2630"/>
                </a:solidFill>
                <a:latin typeface="Arial"/>
                <a:ea typeface="Arial"/>
                <a:cs typeface="Arial"/>
              </a:rPr>
              <a:t>sensores duplicados</a:t>
            </a:r>
          </a:p>
        </p:txBody>
      </p:sp>
      <p:sp>
        <p:nvSpPr>
          <p:cNvPr id="16" name="test-list">
            <a:extLst xmlns:a="http://schemas.openxmlformats.org/drawingml/2006/main">
              <a:ext uri="{FF2B5EF4-FFF2-40B4-BE49-F238E27FC236}">
                <a16:creationId xmlns:a16="http://schemas.microsoft.com/office/drawing/2014/main" id="{14FE18F4-EEE5-4BC1-8FA9-D088325C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22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065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56F"/>
                </a:solidFill>
                <a:latin typeface="Arial"/>
                <a:ea typeface="Arial"/>
                <a:cs typeface="Arial"/>
              </a:rPr>
              <a:t>6 pruebas: recorrido/ruta · ciclo/origen alterno · aislado/origen inválido · carga/errores JSON</a:t>
            </a:r>
          </a:p>
        </p:txBody>
      </p:sp>
      <p:sp>
        <p:nvSpPr>
          <p:cNvPr id="17" name="limit-bar">
            <a:extLst xmlns:a="http://schemas.openxmlformats.org/drawingml/2006/main">
              <a:ext uri="{FF2B5EF4-FFF2-40B4-BE49-F238E27FC236}">
                <a16:creationId xmlns:a16="http://schemas.microsoft.com/office/drawing/2014/main" id="{D2C93C99-2680-40C8-A650-076570F2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1010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imit-text">
            <a:extLst xmlns:a="http://schemas.openxmlformats.org/drawingml/2006/main">
              <a:ext uri="{FF2B5EF4-FFF2-40B4-BE49-F238E27FC236}">
                <a16:creationId xmlns:a16="http://schemas.microsoft.com/office/drawing/2014/main" id="{59CDAFE3-E769-4250-8EA0-6DDF3C04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Límite: BFS minimiza enlaces; no calcula distancia física, presión ni costo de reparación.</a:t>
            </a:r>
          </a:p>
        </p:txBody>
      </p:sp>
    </p:spTree>
    <p:extLst>
      <p:ext uri="{BB962C8B-B14F-4D97-AF65-F5344CB8AC3E}">
        <p14:creationId xmlns:p14="http://schemas.microsoft.com/office/powerpoint/2010/main" val="1969654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4C2A4DA6-ADE4-4801-88EE-75B17476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CONCLUSIÓN · MATEO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7125BC40-7DED-46B5-8619-85E4AE9B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524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BFS cumple exactamente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el objetivo sorteado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8F29695A-8166-4E89-B9A6-71CCA38A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num-1">
            <a:extLst xmlns:a="http://schemas.openxmlformats.org/drawingml/2006/main">
              <a:ext uri="{FF2B5EF4-FFF2-40B4-BE49-F238E27FC236}">
                <a16:creationId xmlns:a16="http://schemas.microsoft.com/office/drawing/2014/main" id="{F4994F1D-C0F8-4300-977C-6E26CE3A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close-head-1">
            <a:extLst xmlns:a="http://schemas.openxmlformats.org/drawingml/2006/main">
              <a:ext uri="{FF2B5EF4-FFF2-40B4-BE49-F238E27FC236}">
                <a16:creationId xmlns:a16="http://schemas.microsoft.com/office/drawing/2014/main" id="{037BC705-CF12-4820-8AB9-A4DF7646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957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630"/>
                </a:solidFill>
                <a:latin typeface="Arial"/>
                <a:ea typeface="Arial"/>
                <a:cs typeface="Arial"/>
              </a:rPr>
              <a:t>Modela la red</a:t>
            </a:r>
          </a:p>
        </p:txBody>
      </p:sp>
      <p:sp>
        <p:nvSpPr>
          <p:cNvPr id="6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DF71E9F1-08D7-466B-979D-8FE13EE1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065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56F"/>
                </a:solidFill>
                <a:latin typeface="Arial"/>
                <a:ea typeface="Arial"/>
                <a:cs typeface="Arial"/>
              </a:rPr>
              <a:t>Sensores como nodos y enlaces como aristas.</a:t>
            </a:r>
          </a:p>
        </p:txBody>
      </p:sp>
      <p:sp>
        <p:nvSpPr>
          <p:cNvPr id="7" name="close-num-2">
            <a:extLst xmlns:a="http://schemas.openxmlformats.org/drawingml/2006/main">
              <a:ext uri="{FF2B5EF4-FFF2-40B4-BE49-F238E27FC236}">
                <a16:creationId xmlns:a16="http://schemas.microsoft.com/office/drawing/2014/main" id="{C7993F0E-45F9-483A-83E3-14992071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14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close-head-2">
            <a:extLst xmlns:a="http://schemas.openxmlformats.org/drawingml/2006/main">
              <a:ext uri="{FF2B5EF4-FFF2-40B4-BE49-F238E27FC236}">
                <a16:creationId xmlns:a16="http://schemas.microsoft.com/office/drawing/2014/main" id="{D7F65D90-4EE0-4815-99B1-42BD9A2B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957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630"/>
                </a:solidFill>
                <a:latin typeface="Arial"/>
                <a:ea typeface="Arial"/>
                <a:cs typeface="Arial"/>
              </a:rPr>
              <a:t>Prioriza por niveles</a:t>
            </a:r>
          </a:p>
        </p:txBody>
      </p:sp>
      <p:sp>
        <p:nvSpPr>
          <p:cNvPr id="9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9D542323-8872-4420-A15E-4C43C36E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148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065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56F"/>
                </a:solidFill>
                <a:latin typeface="Arial"/>
                <a:ea typeface="Arial"/>
                <a:cs typeface="Arial"/>
              </a:rPr>
              <a:t>Atiende primero los sensores del nivel más cercano.</a:t>
            </a:r>
          </a:p>
        </p:txBody>
      </p:sp>
      <p:sp>
        <p:nvSpPr>
          <p:cNvPr id="10" name="close-num-3">
            <a:extLst xmlns:a="http://schemas.openxmlformats.org/drawingml/2006/main">
              <a:ext uri="{FF2B5EF4-FFF2-40B4-BE49-F238E27FC236}">
                <a16:creationId xmlns:a16="http://schemas.microsoft.com/office/drawing/2014/main" id="{3FE499EC-F34A-44F0-AF09-198AD491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close-head-3">
            <a:extLst xmlns:a="http://schemas.openxmlformats.org/drawingml/2006/main">
              <a:ext uri="{FF2B5EF4-FFF2-40B4-BE49-F238E27FC236}">
                <a16:creationId xmlns:a16="http://schemas.microsoft.com/office/drawing/2014/main" id="{80292BF6-0BEE-426C-BCD1-E3F437C2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957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5263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630"/>
                </a:solidFill>
                <a:latin typeface="Arial"/>
                <a:ea typeface="Arial"/>
                <a:cs typeface="Arial"/>
              </a:rPr>
              <a:t>Produce evidencia</a:t>
            </a:r>
          </a:p>
        </p:txBody>
      </p:sp>
      <p:sp>
        <p:nvSpPr>
          <p:cNvPr id="12" name="close-body-3">
            <a:extLst xmlns:a="http://schemas.openxmlformats.org/drawingml/2006/main">
              <a:ext uri="{FF2B5EF4-FFF2-40B4-BE49-F238E27FC236}">
                <a16:creationId xmlns:a16="http://schemas.microsoft.com/office/drawing/2014/main" id="{32064BD1-D7B1-4FB3-BD69-19C8D535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148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065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56F"/>
                </a:solidFill>
                <a:latin typeface="Arial"/>
                <a:ea typeface="Arial"/>
                <a:cs typeface="Arial"/>
              </a:rPr>
              <a:t>Entrega orden, ruta, pruebas y complejidad.</a:t>
            </a:r>
          </a:p>
        </p:txBody>
      </p:sp>
      <p:sp>
        <p:nvSpPr>
          <p:cNvPr id="13" name="close-line">
            <a:extLst xmlns:a="http://schemas.openxmlformats.org/drawingml/2006/main">
              <a:ext uri="{FF2B5EF4-FFF2-40B4-BE49-F238E27FC236}">
                <a16:creationId xmlns:a16="http://schemas.microsoft.com/office/drawing/2014/main" id="{224FBA9F-A3CF-4370-8FDB-4193E201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Una solución clara, verificable y preparada para demostrar en Python.</a:t>
            </a:r>
          </a:p>
        </p:txBody>
      </p:sp>
      <p:sp>
        <p:nvSpPr>
          <p:cNvPr id="14" name="close-page">
            <a:extLst xmlns:a="http://schemas.openxmlformats.org/drawingml/2006/main">
              <a:ext uri="{FF2B5EF4-FFF2-40B4-BE49-F238E27FC236}">
                <a16:creationId xmlns:a16="http://schemas.microsoft.com/office/drawing/2014/main" id="{5559AB1D-21BE-4B1C-8EC1-67B107A0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065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0656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747060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2026-08-24T18:16:23.2290000Z</dcterms:created>
  <dcterms:modified xsi:type="dcterms:W3CDTF">2026-08-24T18:16:23.2290000Z</dcterms:modified>
</coreProperties>
</file>